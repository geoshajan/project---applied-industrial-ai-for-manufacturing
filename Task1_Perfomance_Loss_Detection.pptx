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8" r:id="rId10"/>
    <p:sldId id="261" r:id="rId11"/>
    <p:sldId id="262" r:id="rId12"/>
    <p:sldId id="263" r:id="rId13"/>
    <p:sldId id="264" r:id="rId14"/>
    <p:sldId id="265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4F94FD-DEEB-CC4A-985A-2A94370D2352}" v="345" dt="2026-05-05T17:23:34.161"/>
    <p1510:client id="{4E41988A-9B88-4755-9694-67A90F181733}" v="203" dt="2026-05-05T09:20:23.596"/>
    <p1510:client id="{4F5F7C56-799F-1141-EFDD-B134AFD7683A}" v="2" dt="2026-05-05T10:59:52.882"/>
    <p1510:client id="{53F43E78-5D67-F4B8-0338-55D3B0BD97A0}" v="3" dt="2026-05-05T09:18:43.020"/>
    <p1510:client id="{730EF268-A18F-F27D-779A-B606A48F2754}" v="2" dt="2026-05-05T16:57:16.042"/>
    <p1510:client id="{73113C55-5597-2871-0D26-67C01F865408}" v="2" dt="2026-05-05T09:44:31.225"/>
    <p1510:client id="{8E6B9916-B09E-FE60-9CD3-4C88CCAF79E2}" v="4" dt="2026-05-05T15:25:41.208"/>
    <p1510:client id="{B06E69BA-8F8A-6270-CEF4-DE097A96E6B6}" v="1" dt="2026-05-05T15:04:17.878"/>
    <p1510:client id="{B18622D9-2F83-A15E-ABCE-5FEAC01231FD}" v="8" dt="2026-05-05T09:53:05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271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4F8A-7296-CE98-0C47-21AA84AF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36951-B6EE-F727-8D46-34580CEAB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A3ABD-04FF-9760-69FC-EEE63B9EC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1DD7-8F76-9E09-2662-67768A143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23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Loss Detection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Industrial AI  ·  HS Albstadt-Sigmaringen  ·  plus10 GmbH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2004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502920" y="3182112"/>
            <a:ext cx="4114800" cy="246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Ephraim Neke Kamalu                   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4114800" cy="2468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Pratiksha Satish </a:t>
            </a:r>
            <a:r>
              <a:rPr lang="en-US" sz="115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Ramane</a:t>
            </a:r>
            <a:r>
              <a:rPr lang="en-US" sz="11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               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7588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Abeera Biju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502920" y="3915633"/>
            <a:ext cx="3200400" cy="2540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Geo Shajan                              </a:t>
            </a:r>
            <a:r>
              <a:rPr lang="en-US" sz="115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        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773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May 2026  ·  Lecturer: Felix Georg Müller</a:t>
            </a:r>
            <a:endParaRPr lang="en-US" sz="85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651A71F-8DD3-E298-DA29-1151BE235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441" y="29626"/>
            <a:ext cx="2240005" cy="7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5ECA8CF9-467C-6E16-FB4E-B96F85862C4D}"/>
              </a:ext>
            </a:extLst>
          </p:cNvPr>
          <p:cNvSpPr/>
          <p:nvPr/>
        </p:nvSpPr>
        <p:spPr>
          <a:xfrm>
            <a:off x="2331720" y="3915632"/>
            <a:ext cx="3200400" cy="2540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110730                                  </a:t>
            </a:r>
            <a:endParaRPr lang="en-US" sz="11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4DCB971-165E-DD29-85D3-3E98778BE29F}"/>
              </a:ext>
            </a:extLst>
          </p:cNvPr>
          <p:cNvSpPr/>
          <p:nvPr/>
        </p:nvSpPr>
        <p:spPr>
          <a:xfrm>
            <a:off x="2331720" y="3658457"/>
            <a:ext cx="3200400" cy="2540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110770                                    </a:t>
            </a:r>
            <a:endParaRPr lang="en-US" sz="11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146A1586-1B9A-1176-3105-D20E748455D5}"/>
              </a:ext>
            </a:extLst>
          </p:cNvPr>
          <p:cNvSpPr/>
          <p:nvPr/>
        </p:nvSpPr>
        <p:spPr>
          <a:xfrm>
            <a:off x="2331720" y="3401282"/>
            <a:ext cx="3200400" cy="2540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110989</a:t>
            </a:r>
            <a:endParaRPr 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807E32E-5FCF-AB39-5ABD-3F1B14AAA59C}"/>
              </a:ext>
            </a:extLst>
          </p:cNvPr>
          <p:cNvSpPr/>
          <p:nvPr/>
        </p:nvSpPr>
        <p:spPr>
          <a:xfrm>
            <a:off x="2331720" y="3151251"/>
            <a:ext cx="3200400" cy="2540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111048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1 OF 3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04672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refresher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804672" y="1755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Availability, Performance, and Quality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804672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804672" y="26700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PLCs logging a small model factory for 8.4 minutes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804672" y="3291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804672" y="3584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of CRISP-DM, applied to this problem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102352" y="14630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102352" y="17556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filter combined with K-Means clustering (K = 4)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102352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102352" y="26700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stops found, 41 s lost, Performance = 91.8 %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3159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from the lecturer:  </a:t>
            </a:r>
            <a:r>
              <a:rPr lang="en-US" sz="950" i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are several performance losses (somewhere between 1 and 10) in the recorded production window — find them and link each one to a physical station."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Where does performance loss </a:t>
            </a:r>
            <a:r>
              <a:rPr lang="en-US" sz="2800" b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sit </a:t>
            </a:r>
            <a:r>
              <a:rPr lang="en-US" sz="28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 OEE?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 =  Availability (A)  ×  Performance (P)  ×  Quality (Q)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2606040" cy="2834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94360" y="28163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 vs. net operating time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594360" y="33649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from breakdowns and setup delays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594360" y="3913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Mini-Project 2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246120" y="1938528"/>
            <a:ext cx="2606040" cy="2834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984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3383280" y="24871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383280" y="28163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to micro-stops and slow cycles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3383280" y="33649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reduces throughput without a full stop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3383280" y="3913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we're investigating here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3383280" y="45079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Our focus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6035040" y="1938528"/>
            <a:ext cx="2606040" cy="28346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35040" y="198424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6172200" y="24871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172200" y="28163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parts vs. total parts produced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6172200" y="33649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from scrap and defects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6172200" y="3913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Mini-Project 3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PLCs, one shared timeline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5303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S7 CSV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6,283 rows × 144 columns, ~13 Hz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Beckhoff CSV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2011680" y="2103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5,197 rows × 55 columns, ~10 Hz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303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length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2011680" y="26974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 seconds (8 min 25 s)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map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2011680" y="32918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Variablenerklärung.xlsx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3931920" cy="530352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stations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2011680" y="38862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Sorting, Drilling, Robot, Warehouse, Conveyor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4754880" y="13898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prepared the data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507492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timestamps from epoch milliseconds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4754880" y="2276856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074920" y="22768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True/False strings to Python booleans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4754880" y="277063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074920" y="2770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Resampled both PLCs onto a 20 ms grid (Nyquist-justified)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4754880" y="326440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07492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Forward-filled gaps between samples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4754880" y="375818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5074920" y="37581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constant signals — kept 72 of 195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4754880" y="42519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074920" y="4251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21 features as input to the ML model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57200" y="4581144"/>
            <a:ext cx="82296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480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 ms?  </a:t>
            </a:r>
            <a:r>
              <a:rPr lang="en-US" sz="9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signal in the raw data switches every 73 ms. Nyquist says we need to sample at least twice as fast — so 20 ms gives us a safe margin.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37" name="Text 35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MODELLING  · 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two-layer approach: rules set the boundary, K-Means scores it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2423160" y="1508760"/>
            <a:ext cx="182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0" y="1463040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the whole line freezes for 3 or more seconds during production, we flag it as a stop.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4)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2423160" y="2121408"/>
            <a:ext cx="182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2075688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on 21 features. The cluster with the least activity is the 'idle' cluster.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57200" y="26883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cluster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2423160" y="2734056"/>
            <a:ext cx="182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2688336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identified as the centroid with the lowest activity score — no manual labelling needed.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57200" y="330098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each stop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2423160" y="3346704"/>
            <a:ext cx="182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3300984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how much of each stop falls in the idle cluster, and how far points stray from their centroid.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assignment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2423160" y="3959352"/>
            <a:ext cx="182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3913632"/>
            <a:ext cx="6126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stop is attributed to whichever station was active just before the freeze began.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37490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581144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 = argmin(centroid activity)  ·  events = group(rule, duration ≥ 3 s)  ·  e.station = last_active_station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49CA7-5515-8D15-EC81-4938BBA9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EF4749-D437-22D1-98FC-D34D30BED5CE}"/>
              </a:ext>
            </a:extLst>
          </p:cNvPr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MODELLING  · 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409E31-4B29-6346-6704-8AC357F19EFF}"/>
              </a:ext>
            </a:extLst>
          </p:cNvPr>
          <p:cNvSpPr/>
          <p:nvPr/>
        </p:nvSpPr>
        <p:spPr>
          <a:xfrm>
            <a:off x="463768" y="763548"/>
            <a:ext cx="8221134" cy="7388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>
                <a:solidFill>
                  <a:srgbClr val="1A1A1A"/>
                </a:solidFill>
                <a:ea typeface="+mn-lt"/>
                <a:cs typeface="+mn-lt"/>
              </a:rPr>
              <a:t>WHY K = 4</a:t>
            </a:r>
            <a:endParaRPr lang="en-US" sz="2400"/>
          </a:p>
          <a:p>
            <a:endParaRPr lang="en-US" sz="2800" dirty="0">
              <a:solidFill>
                <a:srgbClr val="1A1A1A"/>
              </a:solidFill>
              <a:ea typeface="Calibri"/>
              <a:cs typeface="Calibri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008802-AEC7-D06A-20A2-D79FD98AACA6}"/>
              </a:ext>
            </a:extLst>
          </p:cNvPr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8E4D4F1-953E-1A5C-936D-9157F61F43F3}"/>
              </a:ext>
            </a:extLst>
          </p:cNvPr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AEC7B58-0561-75A0-9409-6B83A08856EC}"/>
              </a:ext>
            </a:extLst>
          </p:cNvPr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F0AB2E6-063A-DBC5-3909-2453D34F181D}"/>
              </a:ext>
            </a:extLst>
          </p:cNvPr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75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57E54E-45C1-4043-29D1-02956D589506}"/>
              </a:ext>
            </a:extLst>
          </p:cNvPr>
          <p:cNvSpPr txBox="1"/>
          <p:nvPr/>
        </p:nvSpPr>
        <p:spPr>
          <a:xfrm>
            <a:off x="643511" y="1424808"/>
            <a:ext cx="6887232" cy="17389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>
                <a:ea typeface="+mn-lt"/>
                <a:cs typeface="+mn-lt"/>
              </a:rPr>
              <a:t>The MPS 500 cycles through four physically distinct regimes within a shift:</a:t>
            </a:r>
            <a:endParaRPr lang="en-GB" sz="1200"/>
          </a:p>
          <a:p>
            <a:pPr algn="l"/>
            <a:endParaRPr lang="en-GB" sz="1400" dirty="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>
                <a:ea typeface="+mn-lt"/>
                <a:cs typeface="+mn-lt"/>
              </a:rPr>
              <a:t>Idle / stopped — no station active</a:t>
            </a:r>
            <a:endParaRPr lang="en-GB" sz="120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>
                <a:ea typeface="+mn-lt"/>
                <a:cs typeface="+mn-lt"/>
              </a:rPr>
              <a:t>Single-station running — e.g., warehouse handover only</a:t>
            </a:r>
            <a:endParaRPr lang="en-GB" sz="120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>
                <a:ea typeface="+mn-lt"/>
                <a:cs typeface="+mn-lt"/>
              </a:rPr>
              <a:t>Steady multi-station running</a:t>
            </a:r>
            <a:endParaRPr lang="en-GB" sz="120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GB" sz="1200">
                <a:ea typeface="+mn-lt"/>
                <a:cs typeface="+mn-lt"/>
              </a:rPr>
              <a:t>Burst / handover spike</a:t>
            </a:r>
            <a:endParaRPr lang="en-GB" sz="1200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32BF-097C-3FAC-B36C-5CA8381D11ED}"/>
              </a:ext>
            </a:extLst>
          </p:cNvPr>
          <p:cNvSpPr txBox="1"/>
          <p:nvPr/>
        </p:nvSpPr>
        <p:spPr>
          <a:xfrm>
            <a:off x="643511" y="2935670"/>
            <a:ext cx="6887232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>
                <a:ea typeface="+mn-lt"/>
                <a:cs typeface="+mn-lt"/>
              </a:rPr>
              <a:t>Features used:</a:t>
            </a:r>
            <a:endParaRPr lang="en-US" sz="1400" b="1"/>
          </a:p>
          <a:p>
            <a:pPr algn="l"/>
            <a:endParaRPr lang="en-GB" sz="1400" dirty="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GB" sz="1200">
                <a:ea typeface="+mn-lt"/>
                <a:cs typeface="+mn-lt"/>
              </a:rPr>
              <a:t>Station activity pulses</a:t>
            </a:r>
            <a:endParaRPr lang="en-GB" sz="1200" dirty="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>
                <a:ea typeface="+mn-lt"/>
                <a:cs typeface="+mn-lt"/>
              </a:rPr>
              <a:t>Rolling edge counts</a:t>
            </a:r>
            <a:endParaRPr lang="en-GB" sz="1200" dirty="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>
                <a:ea typeface="+mn-lt"/>
                <a:cs typeface="+mn-lt"/>
              </a:rPr>
              <a:t>Time-since-last-edge</a:t>
            </a:r>
            <a:endParaRPr lang="en-GB" sz="1200" dirty="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 dirty="0">
                <a:ea typeface="+mn-lt"/>
                <a:cs typeface="+mn-lt"/>
              </a:rPr>
              <a:t>Scaled </a:t>
            </a:r>
            <a:r>
              <a:rPr lang="en-GB" sz="1200" dirty="0" err="1">
                <a:ea typeface="+mn-lt"/>
                <a:cs typeface="+mn-lt"/>
              </a:rPr>
              <a:t>numerics</a:t>
            </a:r>
            <a:endParaRPr lang="en-GB" sz="1200" dirty="0" err="1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>
                <a:ea typeface="+mn-lt"/>
                <a:cs typeface="+mn-lt"/>
              </a:rPr>
              <a:t>Line-running mask</a:t>
            </a:r>
            <a:endParaRPr lang="en-GB" sz="1200" dirty="0"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GB" sz="1200">
                <a:ea typeface="+mn-lt"/>
                <a:cs typeface="+mn-lt"/>
              </a:rPr>
              <a:t>Line-wide activity flag</a:t>
            </a:r>
            <a:endParaRPr lang="en-GB" sz="1200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6592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TIMELINE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5 stops — here's where they sit in the recording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1572768" cy="8229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2121408" y="3657600"/>
            <a:ext cx="1572768" cy="8229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21408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 s</a:t>
            </a:r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2121408" y="41148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stop time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3785616" y="3657600"/>
            <a:ext cx="1572768" cy="8229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85616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500.4 s</a:t>
            </a:r>
            <a:endParaRPr lang="en-US" sz="2000"/>
          </a:p>
        </p:txBody>
      </p:sp>
      <p:sp>
        <p:nvSpPr>
          <p:cNvPr id="35" name="Text 33"/>
          <p:cNvSpPr/>
          <p:nvPr/>
        </p:nvSpPr>
        <p:spPr>
          <a:xfrm>
            <a:off x="3785616" y="41148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5449824" y="3657600"/>
            <a:ext cx="1572768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49824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91.8 %</a:t>
            </a:r>
            <a:endParaRPr lang="en-US" sz="2000"/>
          </a:p>
        </p:txBody>
      </p:sp>
      <p:sp>
        <p:nvSpPr>
          <p:cNvPr id="38" name="Text 36"/>
          <p:cNvSpPr/>
          <p:nvPr/>
        </p:nvSpPr>
        <p:spPr>
          <a:xfrm>
            <a:off x="5449824" y="41148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(P)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7114032" y="3657600"/>
            <a:ext cx="1572768" cy="8229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14032" y="3703320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86.8 %</a:t>
            </a:r>
            <a:endParaRPr lang="en-US" sz="2000"/>
          </a:p>
        </p:txBody>
      </p:sp>
      <p:sp>
        <p:nvSpPr>
          <p:cNvPr id="41" name="Text 39"/>
          <p:cNvSpPr/>
          <p:nvPr/>
        </p:nvSpPr>
        <p:spPr>
          <a:xfrm>
            <a:off x="7114032" y="411480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agrees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44" name="Text 4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750"/>
          </a:p>
        </p:txBody>
      </p:sp>
      <p:pic>
        <p:nvPicPr>
          <p:cNvPr id="45" name="Picture 44" descr="01_run_timeline.png">
            <a:extLst>
              <a:ext uri="{FF2B5EF4-FFF2-40B4-BE49-F238E27FC236}">
                <a16:creationId xmlns:a16="http://schemas.microsoft.com/office/drawing/2014/main" id="{A71616B3-AB65-DF03-8FBA-60778798B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74" y="1602818"/>
            <a:ext cx="8495852" cy="2039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ATTRIBUTION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-917294" y="-1228653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station caused each stop?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2240280" y="1645920"/>
            <a:ext cx="502920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40280" y="1645920"/>
            <a:ext cx="4475988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07708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stops  ·  17.8 s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240280" y="2651760"/>
            <a:ext cx="502920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40280" y="2651760"/>
            <a:ext cx="369646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28182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stops  ·  14.7 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35890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240280" y="3566160"/>
            <a:ext cx="5029200" cy="32004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40280" y="3574713"/>
            <a:ext cx="2137410" cy="32004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6913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stop  ·  8.5 s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'Unknown' = the stop happened right at the start of the recording, so there was no prior activity to link it to.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2519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and Robot together account for 4 of the 5 stops and 32.5 s of the 41 s total — those two stations are the clear focus for any follow-up investigation.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 ·  MODEL COMPARISON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K-Means actually add on top of the rule?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721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read: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57200" y="387948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finds 5 stops totalling 41 s — that's our headline result.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its own finds fewer ticks (it misses parts of some stops), so we don't use it as the primary detector.</a:t>
            </a:r>
            <a:endParaRPr lang="en-US" sz="950"/>
          </a:p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adds value: it confirms 86.8 % of the rule's stop ticks and gives a 'surprise score' per stop, which is useful for prioritising.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4654296"/>
            <a:ext cx="7955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rule draws the boundary. K-Means tells us how unusual each stop really was."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41" name="Text 39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750"/>
          </a:p>
        </p:txBody>
      </p:sp>
      <p:pic>
        <p:nvPicPr>
          <p:cNvPr id="43" name="Picture 42" descr="09_model_comparison.png">
            <a:extLst>
              <a:ext uri="{FF2B5EF4-FFF2-40B4-BE49-F238E27FC236}">
                <a16:creationId xmlns:a16="http://schemas.microsoft.com/office/drawing/2014/main" id="{543736FB-1DA8-2DDA-BAF8-A80268543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392061"/>
            <a:ext cx="594360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for this recording window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62686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OEE = 91.8 %</a:t>
            </a: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(based on this 8-minute slice, assuming A and Q = 100 %)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750"/>
          </a:p>
        </p:txBody>
      </p:sp>
      <p:pic>
        <p:nvPicPr>
          <p:cNvPr id="25" name="Picture 24" descr="05_oee_waterfall.png">
            <a:extLst>
              <a:ext uri="{FF2B5EF4-FFF2-40B4-BE49-F238E27FC236}">
                <a16:creationId xmlns:a16="http://schemas.microsoft.com/office/drawing/2014/main" id="{D78AD6C6-6474-06A1-0D20-3FA6B73A6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12827"/>
            <a:ext cx="5344758" cy="259602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99F40F8-BB5E-22EB-671F-0F72405FF313}"/>
              </a:ext>
            </a:extLst>
          </p:cNvPr>
          <p:cNvSpPr/>
          <p:nvPr/>
        </p:nvSpPr>
        <p:spPr>
          <a:xfrm>
            <a:off x="6409765" y="1417320"/>
            <a:ext cx="2492188" cy="781015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F525F1-2BBB-FF1F-1057-18EF791C6125}"/>
              </a:ext>
            </a:extLst>
          </p:cNvPr>
          <p:cNvSpPr txBox="1"/>
          <p:nvPr/>
        </p:nvSpPr>
        <p:spPr>
          <a:xfrm>
            <a:off x="6309360" y="1574090"/>
            <a:ext cx="93412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C59402-8C38-32A8-A5A4-16533C0BD023}"/>
              </a:ext>
            </a:extLst>
          </p:cNvPr>
          <p:cNvSpPr txBox="1"/>
          <p:nvPr/>
        </p:nvSpPr>
        <p:spPr>
          <a:xfrm>
            <a:off x="7243482" y="1579222"/>
            <a:ext cx="165847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DF6316-6AB1-DE9C-D506-0225DB2E71F3}"/>
              </a:ext>
            </a:extLst>
          </p:cNvPr>
          <p:cNvSpPr txBox="1"/>
          <p:nvPr/>
        </p:nvSpPr>
        <p:spPr>
          <a:xfrm>
            <a:off x="7243482" y="1840386"/>
            <a:ext cx="165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breakdowns in window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3B2B53-0DA9-E7E4-BD9E-3D71AA0F969A}"/>
              </a:ext>
            </a:extLst>
          </p:cNvPr>
          <p:cNvSpPr/>
          <p:nvPr/>
        </p:nvSpPr>
        <p:spPr>
          <a:xfrm>
            <a:off x="6409765" y="2381215"/>
            <a:ext cx="2492188" cy="781015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2D7157-9870-8F1F-EBAF-95CE7C6171F1}"/>
              </a:ext>
            </a:extLst>
          </p:cNvPr>
          <p:cNvSpPr/>
          <p:nvPr/>
        </p:nvSpPr>
        <p:spPr>
          <a:xfrm>
            <a:off x="6409765" y="3345110"/>
            <a:ext cx="2492188" cy="765549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F7CB22-1703-E74C-8504-4FE958C062B1}"/>
              </a:ext>
            </a:extLst>
          </p:cNvPr>
          <p:cNvSpPr txBox="1"/>
          <p:nvPr/>
        </p:nvSpPr>
        <p:spPr>
          <a:xfrm>
            <a:off x="6409765" y="2592490"/>
            <a:ext cx="717176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7C4B5A-A579-DB35-D0B7-4267C6D9504D}"/>
              </a:ext>
            </a:extLst>
          </p:cNvPr>
          <p:cNvSpPr txBox="1"/>
          <p:nvPr/>
        </p:nvSpPr>
        <p:spPr>
          <a:xfrm>
            <a:off x="6409765" y="3530438"/>
            <a:ext cx="717176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</a:rPr>
              <a:t>Q</a:t>
            </a:r>
            <a:endParaRPr sz="28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94D644-7369-9FAF-B7BD-543B5C0E0A73}"/>
              </a:ext>
            </a:extLst>
          </p:cNvPr>
          <p:cNvSpPr txBox="1"/>
          <p:nvPr/>
        </p:nvSpPr>
        <p:spPr>
          <a:xfrm>
            <a:off x="7243482" y="2523638"/>
            <a:ext cx="165847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</a:rPr>
              <a:t>91.8</a:t>
            </a:r>
            <a:r>
              <a:rPr sz="1400" b="1">
                <a:solidFill>
                  <a:srgbClr val="FFFFFF"/>
                </a:solidFill>
                <a:latin typeface="Calibri"/>
              </a:rPr>
              <a:t> 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887572-4B8B-BE08-7E7A-0CCFF88CDBFA}"/>
              </a:ext>
            </a:extLst>
          </p:cNvPr>
          <p:cNvSpPr txBox="1"/>
          <p:nvPr/>
        </p:nvSpPr>
        <p:spPr>
          <a:xfrm>
            <a:off x="7243481" y="2875857"/>
            <a:ext cx="165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41.0 s lost / 500.4 s run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38453A-42AD-4FEB-5E6C-25C9777D1E07}"/>
              </a:ext>
            </a:extLst>
          </p:cNvPr>
          <p:cNvSpPr txBox="1"/>
          <p:nvPr/>
        </p:nvSpPr>
        <p:spPr>
          <a:xfrm>
            <a:off x="7243482" y="3804977"/>
            <a:ext cx="165847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no scrap data in this snippet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E39032-D4D7-AF70-0779-8254A9CFBAF1}"/>
              </a:ext>
            </a:extLst>
          </p:cNvPr>
          <p:cNvSpPr txBox="1"/>
          <p:nvPr/>
        </p:nvSpPr>
        <p:spPr>
          <a:xfrm>
            <a:off x="7243480" y="3445198"/>
            <a:ext cx="165847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5087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5544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Ephraim Neke Kamalu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621792" y="18653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Data Understanding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21792" y="2121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timestamps across both PLCs, built the variable-to-station map from Variablenerklärung.xlsx.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69080" cy="15087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32004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Pratiksha Satish Ramane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621792" y="35112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Evaluation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21792" y="37673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K-Means model (K = 4), identified the idle cluster, scored each stop, ran the attribution analysis and model comparison.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709160" y="1463040"/>
            <a:ext cx="4069080" cy="15087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15544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Abeera Biju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873752" y="18653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4873752" y="2121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raw CSVs, ran the 20 ms Nyquist-justified resampling, and engineered the 21 features.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069080" cy="15087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3108960"/>
            <a:ext cx="5486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32004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Shajan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873752" y="35112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Reporting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4873752" y="37673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the engineer table, wrote the project report.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82296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  ·  HS Albstadt-Sigmaringen / plus10 GmbH</a:t>
            </a:r>
            <a:endParaRPr lang="en-US" sz="750"/>
          </a:p>
        </p:txBody>
      </p:sp>
      <p:sp>
        <p:nvSpPr>
          <p:cNvPr id="27" name="Text 25"/>
          <p:cNvSpPr/>
          <p:nvPr/>
        </p:nvSpPr>
        <p:spPr>
          <a:xfrm>
            <a:off x="77724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7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73152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2800">
              <a:solidFill>
                <a:srgbClr val="2563EB"/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3154680"/>
            <a:ext cx="548640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Industrial AI for Manufacturing  ·  Mini-Project 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Ephraim Neke Kamalu   ·   Pratiksha Satish Ramane   ·   Abeera Biju   ·   Geo Shajan</a:t>
            </a:r>
            <a:endParaRPr lang="en-US" sz="105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09406A9D-4CDE-D24F-EB7A-7FEEC9DF9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441" y="29626"/>
            <a:ext cx="2240005" cy="7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485c82-cf81-4da2-9577-27b858425d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62DAADC1FD3794D8761720A6DD4E29D" ma:contentTypeVersion="5" ma:contentTypeDescription="Ein neues Dokument erstellen." ma:contentTypeScope="" ma:versionID="af0cfed9af42a0f4c5b719d58b093657">
  <xsd:schema xmlns:xsd="http://www.w3.org/2001/XMLSchema" xmlns:xs="http://www.w3.org/2001/XMLSchema" xmlns:p="http://schemas.microsoft.com/office/2006/metadata/properties" xmlns:ns3="46485c82-cf81-4da2-9577-27b858425da3" targetNamespace="http://schemas.microsoft.com/office/2006/metadata/properties" ma:root="true" ma:fieldsID="b0fff9ee0e1c227ad3881fc533324089" ns3:_="">
    <xsd:import namespace="46485c82-cf81-4da2-9577-27b858425d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85c82-cf81-4da2-9577-27b858425d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E01AAD-CFF9-4647-B4D7-B87BB5ABA2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FD6CEF-BD4A-43C9-B850-06B99111C0E4}">
  <ds:schemaRefs>
    <ds:schemaRef ds:uri="46485c82-cf81-4da2-9577-27b858425d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55C4E09-D8B6-4D4D-BEE6-907EA440BA1E}">
  <ds:schemaRefs>
    <ds:schemaRef ds:uri="46485c82-cf81-4da2-9577-27b858425d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207</cp:revision>
  <dcterms:created xsi:type="dcterms:W3CDTF">2026-05-05T08:13:32Z</dcterms:created>
  <dcterms:modified xsi:type="dcterms:W3CDTF">2026-05-05T17:32:08Z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0x010100C62DAADC1FD3794D8761720A6DD4E29D</vt:lpwstr>
  </property>
</Properties>
</file>